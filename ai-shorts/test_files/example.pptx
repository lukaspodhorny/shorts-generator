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EF5757"/>
    <a:srgbClr val="FF0066"/>
    <a:srgbClr val="22ADD8"/>
    <a:srgbClr val="D47DFB"/>
    <a:srgbClr val="0FC1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3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9A8814-A163-16FF-4CC0-E13352D76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CCE1C0F-1FFE-092F-7A85-277C1A3AC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D1C1A29-532B-2DB7-2A71-79B30FCA9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9637-29C4-4DD3-9EA4-52E371EB4A7B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C31ABDB-EFC7-BC0D-0672-DEF3D94D5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15A639F-8C31-EF98-E232-B771CED86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AEAF-6E85-44AC-BEC3-DA03DE68A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37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4D1FE0-E545-9A50-E1AE-8AF8FB946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EFC1C33-2A3D-484D-6BD7-A0E089593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840E6E3-7D7C-0FD4-1A51-EE7BB208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9637-29C4-4DD3-9EA4-52E371EB4A7B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167EFA3-E992-F751-D8E0-42F639CA8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905B738-9A5D-CE99-F5A4-1EBBA169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AEAF-6E85-44AC-BEC3-DA03DE68A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07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93393F-3CE6-359B-A535-C1D5263D1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FEE6731-5EF6-62F9-F571-0EE3226D9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CA5E308-1418-C730-9782-89D61AC16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9637-29C4-4DD3-9EA4-52E371EB4A7B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F07D5BD-4F7E-8960-9876-3060851DA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8677788-E002-5562-6CB8-EEC594470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AEAF-6E85-44AC-BEC3-DA03DE68A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99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A53431-4506-06DB-8B1D-2DA67BFD5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1FB9FA6-2390-2C84-AC5C-AFEDB262B8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57CACCC-C355-93D7-067F-5E3ED690B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58AC985-0B00-7F98-7B0F-52D36CF40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9637-29C4-4DD3-9EA4-52E371EB4A7B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B15AFC3-DFB1-C03D-95D7-34432608C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E8C8A5F-C1B8-5352-2332-44D231964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AEAF-6E85-44AC-BEC3-DA03DE68A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985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CD64A1-CDFA-12CC-94B4-4DF134D53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AAEB7C7-1BB6-9CD1-B791-65A7F3EB6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D4ED5BD-CB41-50E7-CC28-43544FC20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2710C14-67A8-B910-C04B-10EF6CC364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1B5E1F1-2359-887F-69C5-4978D8D110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BCD9207-A5B8-8980-2705-16F46133C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9637-29C4-4DD3-9EA4-52E371EB4A7B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4C565F0-438C-F78E-0684-99D7AB036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A3FDF6B2-378A-65DE-4872-EF0866DAB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AEAF-6E85-44AC-BEC3-DA03DE68A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61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7A78D4-4C17-667D-FA48-D0E7DE538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FBEFE955-4743-F45A-8D93-3633DAB32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9637-29C4-4DD3-9EA4-52E371EB4A7B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58C45EB-A6F6-44A3-1F63-AE28D57B7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8AB5437-E378-9E49-151E-AB6D0FE29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AEAF-6E85-44AC-BEC3-DA03DE68A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495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49A827ED-53F1-CED2-DB9C-323B293E5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9637-29C4-4DD3-9EA4-52E371EB4A7B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4F183EF3-22E1-4E34-507A-9E1A71FE5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81BBA49-97D2-A28A-EDA8-A377A7AC1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AEAF-6E85-44AC-BEC3-DA03DE68A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43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0761B2-A6DE-BFD7-AFBE-3AFBA6787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9EE851D-E21E-6BD9-173B-9EDC8EE2E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48F5332-E9F8-196F-6728-36C17A04A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68F7342-ECC8-441A-9CF1-9F8A709E6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9637-29C4-4DD3-9EA4-52E371EB4A7B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28730CD-08D6-EE9F-CFC5-306A346C5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0181407-92D7-06A5-A885-5106A8BDC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AEAF-6E85-44AC-BEC3-DA03DE68A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03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6E5D7F-B0A3-E4F0-69AC-1A4073EAA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3AE80548-E2CB-01F0-785B-87A07354CB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D4914E4-4689-D7D6-ED09-5DCBD2228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B436893-C5DD-C637-BAB8-DBDA6CAB8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9637-29C4-4DD3-9EA4-52E371EB4A7B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47536F0-3F21-5399-CEBC-730CEFBE0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9FE3B03-354C-3222-FB22-1856B2C32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AEAF-6E85-44AC-BEC3-DA03DE68A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47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69D35C-9AA9-0EA6-B4C1-867561C54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6DF14B0-D1C6-D443-331B-B50991ADF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078D614-44BA-BFA0-F918-511E987C2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9637-29C4-4DD3-9EA4-52E371EB4A7B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D362552-BEC8-4DCC-8A0D-F7CB5CC52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FDFF6A0-01BF-579E-E990-BA9D58303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AEAF-6E85-44AC-BEC3-DA03DE68A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454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AA9E7C45-974C-D720-A9D4-FBCA0E8C78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FE4BC7D-6FD9-7B8F-B071-4F0218369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5D9E3F5-68DF-00CD-C35F-3E34D2583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D9637-29C4-4DD3-9EA4-52E371EB4A7B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BDA3D68-67B5-6A93-1B4F-B3C380FA7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61DD9C5-C045-3EAB-EA61-55597607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7AEAF-6E85-44AC-BEC3-DA03DE68A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437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47DFB"/>
            </a:gs>
            <a:gs pos="42000">
              <a:schemeClr val="accent5">
                <a:lumMod val="100000"/>
              </a:schemeClr>
            </a:gs>
            <a:gs pos="100000">
              <a:srgbClr val="0FC12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F0DF9887-D47D-C869-33F3-2D70BDAB7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BA679A8-56C2-60AC-F548-87EA2CAB9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9ED67E4-8703-9358-F585-0B674D261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D9637-29C4-4DD3-9EA4-52E371EB4A7B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E94F9A9-53ED-5E44-168F-3F5BFA73A9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A53860E-33AC-3DE8-A44E-887FA2D2F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7AEAF-6E85-44AC-BEC3-DA03DE68A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13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100000">
              <a:schemeClr val="accent1">
                <a:lumMod val="7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8EF23AA7-3C21-9F57-382A-AE3D6A7BC601}"/>
              </a:ext>
            </a:extLst>
          </p:cNvPr>
          <p:cNvSpPr/>
          <p:nvPr/>
        </p:nvSpPr>
        <p:spPr>
          <a:xfrm>
            <a:off x="0" y="2224314"/>
            <a:ext cx="12191999" cy="2409372"/>
          </a:xfrm>
          <a:prstGeom prst="rect">
            <a:avLst/>
          </a:prstGeom>
          <a:effectLst>
            <a:glow>
              <a:schemeClr val="tx2">
                <a:lumMod val="60000"/>
                <a:lumOff val="40000"/>
                <a:alpha val="31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41F0A5A5-3A1B-B3BE-1B18-AA292173A473}"/>
              </a:ext>
            </a:extLst>
          </p:cNvPr>
          <p:cNvSpPr txBox="1"/>
          <p:nvPr/>
        </p:nvSpPr>
        <p:spPr>
          <a:xfrm>
            <a:off x="0" y="2602224"/>
            <a:ext cx="12192000" cy="1446550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8800" dirty="0">
                <a:solidFill>
                  <a:schemeClr val="bg1"/>
                </a:solidFill>
                <a:latin typeface="Consolas" panose="020B0609020204030204" pitchFamily="49" charset="0"/>
              </a:rPr>
              <a:t>Linus </a:t>
            </a:r>
            <a:r>
              <a:rPr lang="cs-CZ" sz="8800" dirty="0" err="1">
                <a:solidFill>
                  <a:schemeClr val="bg1"/>
                </a:solidFill>
                <a:latin typeface="Consolas" panose="020B0609020204030204" pitchFamily="49" charset="0"/>
              </a:rPr>
              <a:t>Torvalds</a:t>
            </a:r>
            <a:r>
              <a:rPr lang="cs-CZ" sz="8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endParaRPr lang="en-US" sz="8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0A7FE3F4-0F5C-565C-C8C7-0ACB8BE56A1B}"/>
              </a:ext>
            </a:extLst>
          </p:cNvPr>
          <p:cNvSpPr/>
          <p:nvPr/>
        </p:nvSpPr>
        <p:spPr>
          <a:xfrm>
            <a:off x="2351313" y="2861042"/>
            <a:ext cx="449943" cy="928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C7E1F962-26D7-D7C0-8E11-7C4DFBA2BC59}"/>
              </a:ext>
            </a:extLst>
          </p:cNvPr>
          <p:cNvSpPr txBox="1"/>
          <p:nvPr/>
        </p:nvSpPr>
        <p:spPr>
          <a:xfrm>
            <a:off x="-2" y="2602224"/>
            <a:ext cx="17199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~</a:t>
            </a:r>
            <a:r>
              <a:rPr lang="en-US" sz="88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$</a:t>
            </a:r>
            <a:endParaRPr lang="en-US" sz="8800" dirty="0">
              <a:solidFill>
                <a:schemeClr val="accent4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543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2.22222E-6 L 0.66367 -2.22222E-6 " pathEditMode="relative" rAng="0" ptsTypes="AA">
                                      <p:cBhvr>
                                        <p:cTn id="8" dur="1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1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801"/>
                            </p:stCondLst>
                            <p:childTnLst>
                              <p:par>
                                <p:cTn id="10" presetID="35" presetClass="emph" presetSubtype="0" repeatCount="indefinite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8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  <p:bldP spid="8" grpId="2" animBg="1"/>
      <p:bldP spid="8" grpId="3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47DFB"/>
            </a:gs>
            <a:gs pos="52000">
              <a:schemeClr val="accent5">
                <a:lumMod val="100000"/>
              </a:schemeClr>
            </a:gs>
            <a:gs pos="100000">
              <a:srgbClr val="0FC12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8EF23AA7-3C21-9F57-382A-AE3D6A7BC601}"/>
              </a:ext>
            </a:extLst>
          </p:cNvPr>
          <p:cNvSpPr/>
          <p:nvPr/>
        </p:nvSpPr>
        <p:spPr>
          <a:xfrm>
            <a:off x="0" y="2224314"/>
            <a:ext cx="12191999" cy="2409372"/>
          </a:xfrm>
          <a:prstGeom prst="rect">
            <a:avLst/>
          </a:prstGeom>
          <a:effectLst>
            <a:glow>
              <a:schemeClr val="tx2">
                <a:lumMod val="60000"/>
                <a:lumOff val="40000"/>
                <a:alpha val="31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41F0A5A5-3A1B-B3BE-1B18-AA292173A473}"/>
              </a:ext>
            </a:extLst>
          </p:cNvPr>
          <p:cNvSpPr txBox="1"/>
          <p:nvPr/>
        </p:nvSpPr>
        <p:spPr>
          <a:xfrm>
            <a:off x="-631373" y="2600948"/>
            <a:ext cx="12192000" cy="1446550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8800" dirty="0">
                <a:solidFill>
                  <a:schemeClr val="bg1"/>
                </a:solidFill>
                <a:latin typeface="Consolas" panose="020B0609020204030204" pitchFamily="49" charset="0"/>
              </a:rPr>
              <a:t>General </a:t>
            </a:r>
            <a:r>
              <a:rPr lang="cs-CZ" sz="8800" dirty="0" err="1">
                <a:solidFill>
                  <a:schemeClr val="bg1"/>
                </a:solidFill>
                <a:latin typeface="Consolas" panose="020B0609020204030204" pitchFamily="49" charset="0"/>
              </a:rPr>
              <a:t>info</a:t>
            </a:r>
            <a:r>
              <a:rPr lang="cs-CZ" sz="8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endParaRPr lang="en-US" sz="8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0A7FE3F4-0F5C-565C-C8C7-0ACB8BE56A1B}"/>
              </a:ext>
            </a:extLst>
          </p:cNvPr>
          <p:cNvSpPr/>
          <p:nvPr/>
        </p:nvSpPr>
        <p:spPr>
          <a:xfrm>
            <a:off x="2351313" y="2861042"/>
            <a:ext cx="449943" cy="928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C7E1F962-26D7-D7C0-8E11-7C4DFBA2BC59}"/>
              </a:ext>
            </a:extLst>
          </p:cNvPr>
          <p:cNvSpPr txBox="1"/>
          <p:nvPr/>
        </p:nvSpPr>
        <p:spPr>
          <a:xfrm>
            <a:off x="-2" y="2602224"/>
            <a:ext cx="17199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~</a:t>
            </a:r>
            <a:r>
              <a:rPr lang="en-US" sz="88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$</a:t>
            </a:r>
            <a:endParaRPr lang="en-US" sz="8800" dirty="0">
              <a:solidFill>
                <a:schemeClr val="accent4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2" name="Obrázek 1" descr="Obsah obrázku text, Lidská tvář, brýle, plakát&#10;&#10;Popis byl vytvořen automaticky">
            <a:extLst>
              <a:ext uri="{FF2B5EF4-FFF2-40B4-BE49-F238E27FC236}">
                <a16:creationId xmlns:a16="http://schemas.microsoft.com/office/drawing/2014/main" id="{7D284301-8BAF-09D2-96DB-2692A99DB8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7"/>
          <a:stretch/>
        </p:blipFill>
        <p:spPr>
          <a:xfrm>
            <a:off x="12445998" y="1507393"/>
            <a:ext cx="3876426" cy="3843213"/>
          </a:xfrm>
          <a:prstGeom prst="rect">
            <a:avLst/>
          </a:prstGeom>
          <a:effectLst>
            <a:outerShdw blurRad="381000" dist="38100" dir="2700000" sx="104000" sy="104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507862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2.22222E-6 L 0.58138 0.00047 " pathEditMode="relative" rAng="0" ptsTypes="AA">
                                      <p:cBhvr>
                                        <p:cTn id="8" dur="1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63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650"/>
                            </p:stCondLst>
                            <p:childTnLst>
                              <p:par>
                                <p:cTn id="10" presetID="35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8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  <p:bldP spid="8" grpId="1" animBg="1"/>
      <p:bldP spid="8" grpId="2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67000">
              <a:srgbClr val="2F5597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8EF23AA7-3C21-9F57-382A-AE3D6A7BC601}"/>
              </a:ext>
            </a:extLst>
          </p:cNvPr>
          <p:cNvSpPr/>
          <p:nvPr/>
        </p:nvSpPr>
        <p:spPr>
          <a:xfrm>
            <a:off x="-3077029" y="-2249714"/>
            <a:ext cx="10595429" cy="11205028"/>
          </a:xfrm>
          <a:prstGeom prst="rect">
            <a:avLst/>
          </a:prstGeom>
          <a:effectLst>
            <a:glow>
              <a:schemeClr val="tx2">
                <a:lumMod val="60000"/>
                <a:lumOff val="40000"/>
                <a:alpha val="31000"/>
              </a:schemeClr>
            </a:glow>
            <a:outerShdw blurRad="1270000" dist="38100" sx="106000" sy="106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41F0A5A5-3A1B-B3BE-1B18-AA292173A473}"/>
              </a:ext>
            </a:extLst>
          </p:cNvPr>
          <p:cNvSpPr txBox="1"/>
          <p:nvPr/>
        </p:nvSpPr>
        <p:spPr>
          <a:xfrm>
            <a:off x="-968830" y="0"/>
            <a:ext cx="8606972" cy="923330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5400" dirty="0">
                <a:solidFill>
                  <a:schemeClr val="bg1"/>
                </a:solidFill>
                <a:latin typeface="Consolas" panose="020B0609020204030204" pitchFamily="49" charset="0"/>
              </a:rPr>
              <a:t>General </a:t>
            </a:r>
            <a:r>
              <a:rPr lang="cs-CZ" sz="5400" dirty="0" err="1">
                <a:solidFill>
                  <a:schemeClr val="bg1"/>
                </a:solidFill>
                <a:latin typeface="Consolas" panose="020B0609020204030204" pitchFamily="49" charset="0"/>
              </a:rPr>
              <a:t>info</a:t>
            </a:r>
            <a:r>
              <a:rPr lang="cs-CZ" sz="5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endParaRPr lang="en-US" sz="5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EE6F65F9-BA4F-366F-1B6B-FC1F20543C4C}"/>
              </a:ext>
            </a:extLst>
          </p:cNvPr>
          <p:cNvSpPr txBox="1"/>
          <p:nvPr/>
        </p:nvSpPr>
        <p:spPr>
          <a:xfrm>
            <a:off x="0" y="1410172"/>
            <a:ext cx="7518401" cy="646331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r>
              <a:rPr lang="cs-CZ" sz="3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-&gt;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53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years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old</a:t>
            </a:r>
            <a:endParaRPr lang="en-US" sz="3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TextovéPole 26">
            <a:extLst>
              <a:ext uri="{FF2B5EF4-FFF2-40B4-BE49-F238E27FC236}">
                <a16:creationId xmlns:a16="http://schemas.microsoft.com/office/drawing/2014/main" id="{8125D1DE-2138-4300-BF38-746A97EC893B}"/>
              </a:ext>
            </a:extLst>
          </p:cNvPr>
          <p:cNvSpPr txBox="1"/>
          <p:nvPr/>
        </p:nvSpPr>
        <p:spPr>
          <a:xfrm>
            <a:off x="0" y="0"/>
            <a:ext cx="1088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~</a:t>
            </a:r>
            <a:r>
              <a:rPr lang="en-US" sz="54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$</a:t>
            </a:r>
            <a:endParaRPr lang="en-US" sz="5400" dirty="0">
              <a:solidFill>
                <a:schemeClr val="accent4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9" name="TextovéPole 28">
            <a:extLst>
              <a:ext uri="{FF2B5EF4-FFF2-40B4-BE49-F238E27FC236}">
                <a16:creationId xmlns:a16="http://schemas.microsoft.com/office/drawing/2014/main" id="{C737CD86-C8C6-08D2-B340-ED2852E3139C}"/>
              </a:ext>
            </a:extLst>
          </p:cNvPr>
          <p:cNvSpPr txBox="1"/>
          <p:nvPr/>
        </p:nvSpPr>
        <p:spPr>
          <a:xfrm>
            <a:off x="-3" y="2373676"/>
            <a:ext cx="7518401" cy="646331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r>
              <a:rPr lang="cs-CZ" sz="3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-&gt;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Finnish-American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endParaRPr lang="en-US" sz="3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TextovéPole 29">
            <a:extLst>
              <a:ext uri="{FF2B5EF4-FFF2-40B4-BE49-F238E27FC236}">
                <a16:creationId xmlns:a16="http://schemas.microsoft.com/office/drawing/2014/main" id="{121518F4-C688-4E2B-74B9-2986A9D19349}"/>
              </a:ext>
            </a:extLst>
          </p:cNvPr>
          <p:cNvSpPr txBox="1"/>
          <p:nvPr/>
        </p:nvSpPr>
        <p:spPr>
          <a:xfrm>
            <a:off x="-4" y="3337180"/>
            <a:ext cx="7518401" cy="646331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r>
              <a:rPr lang="cs-CZ" sz="3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-&gt;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Software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engineer</a:t>
            </a:r>
            <a:endParaRPr lang="en-US" sz="3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TextovéPole 30">
            <a:extLst>
              <a:ext uri="{FF2B5EF4-FFF2-40B4-BE49-F238E27FC236}">
                <a16:creationId xmlns:a16="http://schemas.microsoft.com/office/drawing/2014/main" id="{DEDF42C8-A82F-F8B1-504D-FB5A3AD1A991}"/>
              </a:ext>
            </a:extLst>
          </p:cNvPr>
          <p:cNvSpPr txBox="1"/>
          <p:nvPr/>
        </p:nvSpPr>
        <p:spPr>
          <a:xfrm>
            <a:off x="-5" y="4305579"/>
            <a:ext cx="7518401" cy="1215717"/>
          </a:xfrm>
          <a:prstGeom prst="rect">
            <a:avLst/>
          </a:prstGeom>
          <a:noFill/>
          <a:effectLst>
            <a:glow>
              <a:schemeClr val="accent1"/>
            </a:glow>
            <a:outerShdw blurRad="50800" dist="50800" dir="5400000" sx="1000" sy="1000" algn="ctr" rotWithShape="0">
              <a:schemeClr val="accent1"/>
            </a:outerShdw>
            <a:softEdge rad="0"/>
          </a:effectLst>
        </p:spPr>
        <p:txBody>
          <a:bodyPr wrap="square" rtlCol="0">
            <a:spAutoFit/>
          </a:bodyPr>
          <a:lstStyle/>
          <a:p>
            <a:r>
              <a:rPr lang="cs-CZ" sz="3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-&gt;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Creator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and developer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             </a:t>
            </a:r>
            <a:r>
              <a:rPr lang="ko-KR" altLang="en-US" sz="3700" dirty="0">
                <a:latin typeface="Consolas" panose="020B0609020204030204" pitchFamily="49" charset="0"/>
              </a:rPr>
              <a:t>ㅤ</a:t>
            </a:r>
            <a:r>
              <a:rPr lang="cs-CZ" altLang="ko-KR" sz="3700" dirty="0">
                <a:latin typeface="Consolas" panose="020B0609020204030204" pitchFamily="49" charset="0"/>
              </a:rPr>
              <a:t> 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Linux and Git </a:t>
            </a:r>
            <a:endParaRPr lang="en-US" sz="3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35" name="Obrázek 34" descr="Obsah obrázku text, Lidská tvář, brýle, plakát&#10;&#10;Popis byl vytvořen automaticky">
            <a:extLst>
              <a:ext uri="{FF2B5EF4-FFF2-40B4-BE49-F238E27FC236}">
                <a16:creationId xmlns:a16="http://schemas.microsoft.com/office/drawing/2014/main" id="{726EA365-9AD5-567B-8220-A7A94A82D4C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7"/>
          <a:stretch/>
        </p:blipFill>
        <p:spPr>
          <a:xfrm>
            <a:off x="7955642" y="1523999"/>
            <a:ext cx="3876426" cy="3843213"/>
          </a:xfrm>
          <a:prstGeom prst="rect">
            <a:avLst/>
          </a:prstGeom>
          <a:ln>
            <a:noFill/>
          </a:ln>
          <a:effectLst>
            <a:outerShdw blurRad="381000" dist="38100" dir="2700000" sx="1000" sy="1000" algn="tl" rotWithShape="0">
              <a:prstClr val="black"/>
            </a:outerShdw>
          </a:effectLst>
        </p:spPr>
      </p:pic>
      <p:sp>
        <p:nvSpPr>
          <p:cNvPr id="36" name="Obdélník 35">
            <a:extLst>
              <a:ext uri="{FF2B5EF4-FFF2-40B4-BE49-F238E27FC236}">
                <a16:creationId xmlns:a16="http://schemas.microsoft.com/office/drawing/2014/main" id="{11E6068E-F2B7-D81D-0CFD-E09F3EC51A5E}"/>
              </a:ext>
            </a:extLst>
          </p:cNvPr>
          <p:cNvSpPr/>
          <p:nvPr/>
        </p:nvSpPr>
        <p:spPr>
          <a:xfrm>
            <a:off x="5818413" y="247506"/>
            <a:ext cx="277587" cy="4769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174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8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9" grpId="0"/>
      <p:bldP spid="30" grpId="0"/>
      <p:bldP spid="31" grpId="0"/>
      <p:bldP spid="36" grpId="1" animBg="1"/>
      <p:bldP spid="36" grpId="2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8EF23AA7-3C21-9F57-382A-AE3D6A7BC601}"/>
              </a:ext>
            </a:extLst>
          </p:cNvPr>
          <p:cNvSpPr/>
          <p:nvPr/>
        </p:nvSpPr>
        <p:spPr>
          <a:xfrm>
            <a:off x="0" y="2224314"/>
            <a:ext cx="12191999" cy="2409372"/>
          </a:xfrm>
          <a:prstGeom prst="rect">
            <a:avLst/>
          </a:prstGeom>
          <a:effectLst>
            <a:glow>
              <a:schemeClr val="tx2">
                <a:lumMod val="60000"/>
                <a:lumOff val="40000"/>
                <a:alpha val="31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41F0A5A5-3A1B-B3BE-1B18-AA292173A473}"/>
              </a:ext>
            </a:extLst>
          </p:cNvPr>
          <p:cNvSpPr txBox="1"/>
          <p:nvPr/>
        </p:nvSpPr>
        <p:spPr>
          <a:xfrm>
            <a:off x="-999673" y="2602224"/>
            <a:ext cx="12192000" cy="1446550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8800" dirty="0">
                <a:solidFill>
                  <a:schemeClr val="bg1"/>
                </a:solidFill>
                <a:latin typeface="Consolas" panose="020B0609020204030204" pitchFamily="49" charset="0"/>
              </a:rPr>
              <a:t>Early </a:t>
            </a:r>
            <a:r>
              <a:rPr lang="cs-CZ" sz="8800" dirty="0" err="1">
                <a:solidFill>
                  <a:schemeClr val="bg1"/>
                </a:solidFill>
                <a:latin typeface="Consolas" panose="020B0609020204030204" pitchFamily="49" charset="0"/>
              </a:rPr>
              <a:t>years</a:t>
            </a:r>
            <a:r>
              <a:rPr lang="cs-CZ" sz="8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endParaRPr lang="en-US" sz="8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0A7FE3F4-0F5C-565C-C8C7-0ACB8BE56A1B}"/>
              </a:ext>
            </a:extLst>
          </p:cNvPr>
          <p:cNvSpPr/>
          <p:nvPr/>
        </p:nvSpPr>
        <p:spPr>
          <a:xfrm>
            <a:off x="2351313" y="2861042"/>
            <a:ext cx="449943" cy="928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C7E1F962-26D7-D7C0-8E11-7C4DFBA2BC59}"/>
              </a:ext>
            </a:extLst>
          </p:cNvPr>
          <p:cNvSpPr txBox="1"/>
          <p:nvPr/>
        </p:nvSpPr>
        <p:spPr>
          <a:xfrm>
            <a:off x="-2" y="2602224"/>
            <a:ext cx="17199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~</a:t>
            </a:r>
            <a:r>
              <a:rPr lang="en-US" sz="88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$</a:t>
            </a:r>
            <a:endParaRPr lang="en-US" sz="8800" dirty="0">
              <a:solidFill>
                <a:schemeClr val="accent4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3" name="Picture 4" descr="Who Is Linus Torvalds">
            <a:extLst>
              <a:ext uri="{FF2B5EF4-FFF2-40B4-BE49-F238E27FC236}">
                <a16:creationId xmlns:a16="http://schemas.microsoft.com/office/drawing/2014/main" id="{F2029C68-E060-15C2-9CD9-6EEA6171D9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63" r="25560"/>
          <a:stretch/>
        </p:blipFill>
        <p:spPr bwMode="auto">
          <a:xfrm>
            <a:off x="12792528" y="1193921"/>
            <a:ext cx="3559665" cy="4470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ázek 4" descr="Obsah obrázku text, Lidská tvář, brýle, plakát&#10;&#10;Popis byl vytvořen automaticky">
            <a:extLst>
              <a:ext uri="{FF2B5EF4-FFF2-40B4-BE49-F238E27FC236}">
                <a16:creationId xmlns:a16="http://schemas.microsoft.com/office/drawing/2014/main" id="{9D7B3C0A-137E-3C9F-B81A-D40F8EC045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7"/>
          <a:stretch/>
        </p:blipFill>
        <p:spPr>
          <a:xfrm>
            <a:off x="13191672" y="1507392"/>
            <a:ext cx="3876426" cy="3843213"/>
          </a:xfrm>
          <a:prstGeom prst="rect">
            <a:avLst/>
          </a:prstGeom>
          <a:ln>
            <a:noFill/>
          </a:ln>
          <a:effectLst>
            <a:outerShdw blurRad="381000" dist="38100" dir="2700000" sx="1000" sy="1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3508482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2.22222E-6 L 0.52825 0.00047 " pathEditMode="relative" rAng="0" ptsTypes="AA">
                                      <p:cBhvr>
                                        <p:cTn id="8" dur="15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406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20"/>
                            </p:stCondLst>
                            <p:childTnLst>
                              <p:par>
                                <p:cTn id="10" presetID="35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8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  <p:bldP spid="8" grpId="1" animBg="1"/>
      <p:bldP spid="8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66000">
              <a:srgbClr val="2F5597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8EF23AA7-3C21-9F57-382A-AE3D6A7BC601}"/>
              </a:ext>
            </a:extLst>
          </p:cNvPr>
          <p:cNvSpPr/>
          <p:nvPr/>
        </p:nvSpPr>
        <p:spPr>
          <a:xfrm>
            <a:off x="-3077029" y="-2249714"/>
            <a:ext cx="10595429" cy="11205028"/>
          </a:xfrm>
          <a:prstGeom prst="rect">
            <a:avLst/>
          </a:prstGeom>
          <a:effectLst>
            <a:glow>
              <a:schemeClr val="tx2">
                <a:lumMod val="60000"/>
                <a:lumOff val="40000"/>
                <a:alpha val="31000"/>
              </a:schemeClr>
            </a:glow>
            <a:outerShdw blurRad="1270000" dist="38100" sx="106000" sy="106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41F0A5A5-3A1B-B3BE-1B18-AA292173A473}"/>
              </a:ext>
            </a:extLst>
          </p:cNvPr>
          <p:cNvSpPr txBox="1"/>
          <p:nvPr/>
        </p:nvSpPr>
        <p:spPr>
          <a:xfrm>
            <a:off x="-1184730" y="0"/>
            <a:ext cx="8606972" cy="923330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5400" dirty="0">
                <a:solidFill>
                  <a:schemeClr val="bg1"/>
                </a:solidFill>
                <a:latin typeface="Consolas" panose="020B0609020204030204" pitchFamily="49" charset="0"/>
              </a:rPr>
              <a:t>Early </a:t>
            </a:r>
            <a:r>
              <a:rPr lang="cs-CZ" sz="5400" dirty="0" err="1">
                <a:solidFill>
                  <a:schemeClr val="bg1"/>
                </a:solidFill>
                <a:latin typeface="Consolas" panose="020B0609020204030204" pitchFamily="49" charset="0"/>
              </a:rPr>
              <a:t>years</a:t>
            </a:r>
            <a:r>
              <a:rPr lang="cs-CZ" sz="5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endParaRPr lang="en-US" sz="5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EE6F65F9-BA4F-366F-1B6B-FC1F20543C4C}"/>
              </a:ext>
            </a:extLst>
          </p:cNvPr>
          <p:cNvSpPr txBox="1"/>
          <p:nvPr/>
        </p:nvSpPr>
        <p:spPr>
          <a:xfrm>
            <a:off x="0" y="1410172"/>
            <a:ext cx="7518401" cy="646331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r>
              <a:rPr lang="cs-CZ" sz="3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-&gt;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Lived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in Helsinky</a:t>
            </a:r>
            <a:endParaRPr lang="en-US" sz="3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TextovéPole 26">
            <a:extLst>
              <a:ext uri="{FF2B5EF4-FFF2-40B4-BE49-F238E27FC236}">
                <a16:creationId xmlns:a16="http://schemas.microsoft.com/office/drawing/2014/main" id="{8125D1DE-2138-4300-BF38-746A97EC893B}"/>
              </a:ext>
            </a:extLst>
          </p:cNvPr>
          <p:cNvSpPr txBox="1"/>
          <p:nvPr/>
        </p:nvSpPr>
        <p:spPr>
          <a:xfrm>
            <a:off x="0" y="0"/>
            <a:ext cx="1088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~</a:t>
            </a:r>
            <a:r>
              <a:rPr lang="en-US" sz="54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$</a:t>
            </a:r>
            <a:endParaRPr lang="en-US" sz="5400" dirty="0">
              <a:solidFill>
                <a:schemeClr val="accent4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9" name="TextovéPole 28">
            <a:extLst>
              <a:ext uri="{FF2B5EF4-FFF2-40B4-BE49-F238E27FC236}">
                <a16:creationId xmlns:a16="http://schemas.microsoft.com/office/drawing/2014/main" id="{C737CD86-C8C6-08D2-B340-ED2852E3139C}"/>
              </a:ext>
            </a:extLst>
          </p:cNvPr>
          <p:cNvSpPr txBox="1"/>
          <p:nvPr/>
        </p:nvSpPr>
        <p:spPr>
          <a:xfrm>
            <a:off x="0" y="2376982"/>
            <a:ext cx="7518401" cy="1215717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r>
              <a:rPr lang="cs-CZ" sz="3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-&gt;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He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was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named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after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Linus </a:t>
            </a:r>
            <a:r>
              <a:rPr lang="ko-KR" altLang="en-US" sz="3700" dirty="0">
                <a:latin typeface="Consolas" panose="020B0609020204030204" pitchFamily="49" charset="0"/>
              </a:rPr>
              <a:t>ㅤ</a:t>
            </a:r>
            <a:r>
              <a:rPr lang="cs-CZ" altLang="ko-KR" sz="3700" dirty="0">
                <a:latin typeface="Consolas" panose="020B0609020204030204" pitchFamily="49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Pauling</a:t>
            </a:r>
            <a:endParaRPr lang="en-US" sz="3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TextovéPole 29">
            <a:extLst>
              <a:ext uri="{FF2B5EF4-FFF2-40B4-BE49-F238E27FC236}">
                <a16:creationId xmlns:a16="http://schemas.microsoft.com/office/drawing/2014/main" id="{121518F4-C688-4E2B-74B9-2986A9D19349}"/>
              </a:ext>
            </a:extLst>
          </p:cNvPr>
          <p:cNvSpPr txBox="1"/>
          <p:nvPr/>
        </p:nvSpPr>
        <p:spPr>
          <a:xfrm>
            <a:off x="0" y="3887620"/>
            <a:ext cx="7518401" cy="646331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r>
              <a:rPr lang="cs-CZ" sz="3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-&gt;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Started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programming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at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11 </a:t>
            </a:r>
            <a:endParaRPr lang="en-US" sz="3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TextovéPole 30">
            <a:extLst>
              <a:ext uri="{FF2B5EF4-FFF2-40B4-BE49-F238E27FC236}">
                <a16:creationId xmlns:a16="http://schemas.microsoft.com/office/drawing/2014/main" id="{DEDF42C8-A82F-F8B1-504D-FB5A3AD1A991}"/>
              </a:ext>
            </a:extLst>
          </p:cNvPr>
          <p:cNvSpPr txBox="1"/>
          <p:nvPr/>
        </p:nvSpPr>
        <p:spPr>
          <a:xfrm>
            <a:off x="-2" y="4849345"/>
            <a:ext cx="7518401" cy="646331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r>
              <a:rPr lang="cs-CZ" sz="3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-&gt;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Joined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Finnish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Navy</a:t>
            </a:r>
            <a:endParaRPr lang="en-US" sz="3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Obdélník 35">
            <a:extLst>
              <a:ext uri="{FF2B5EF4-FFF2-40B4-BE49-F238E27FC236}">
                <a16:creationId xmlns:a16="http://schemas.microsoft.com/office/drawing/2014/main" id="{11E6068E-F2B7-D81D-0CFD-E09F3EC51A5E}"/>
              </a:ext>
            </a:extLst>
          </p:cNvPr>
          <p:cNvSpPr/>
          <p:nvPr/>
        </p:nvSpPr>
        <p:spPr>
          <a:xfrm>
            <a:off x="5399313" y="247506"/>
            <a:ext cx="277587" cy="4769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8" name="Picture 4" descr="Who Is Linus Torvalds">
            <a:extLst>
              <a:ext uri="{FF2B5EF4-FFF2-40B4-BE49-F238E27FC236}">
                <a16:creationId xmlns:a16="http://schemas.microsoft.com/office/drawing/2014/main" id="{7D1768C3-A0BC-DEBA-0A8A-CBC9C896B2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63" r="25560"/>
          <a:stretch/>
        </p:blipFill>
        <p:spPr bwMode="auto">
          <a:xfrm>
            <a:off x="8127999" y="1193921"/>
            <a:ext cx="3559665" cy="4470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inux Logo, symbol, meaning, history, PNG, brand">
            <a:extLst>
              <a:ext uri="{FF2B5EF4-FFF2-40B4-BE49-F238E27FC236}">
                <a16:creationId xmlns:a16="http://schemas.microsoft.com/office/drawing/2014/main" id="{EE22A78C-24FF-7128-CE9A-77ABAE47C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9985" y="14831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7074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8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9" grpId="0"/>
      <p:bldP spid="30" grpId="0"/>
      <p:bldP spid="31" grpId="0"/>
      <p:bldP spid="36" grpId="0" animBg="1"/>
      <p:bldP spid="3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8EF23AA7-3C21-9F57-382A-AE3D6A7BC601}"/>
              </a:ext>
            </a:extLst>
          </p:cNvPr>
          <p:cNvSpPr/>
          <p:nvPr/>
        </p:nvSpPr>
        <p:spPr>
          <a:xfrm>
            <a:off x="0" y="2224314"/>
            <a:ext cx="12191999" cy="2409372"/>
          </a:xfrm>
          <a:prstGeom prst="rect">
            <a:avLst/>
          </a:prstGeom>
          <a:effectLst>
            <a:glow>
              <a:schemeClr val="tx2">
                <a:lumMod val="60000"/>
                <a:lumOff val="40000"/>
                <a:alpha val="31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41F0A5A5-3A1B-B3BE-1B18-AA292173A473}"/>
              </a:ext>
            </a:extLst>
          </p:cNvPr>
          <p:cNvSpPr txBox="1"/>
          <p:nvPr/>
        </p:nvSpPr>
        <p:spPr>
          <a:xfrm>
            <a:off x="-2908372" y="2603291"/>
            <a:ext cx="12192000" cy="1446550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8800" dirty="0">
                <a:solidFill>
                  <a:schemeClr val="bg1"/>
                </a:solidFill>
                <a:latin typeface="Consolas" panose="020B0609020204030204" pitchFamily="49" charset="0"/>
              </a:rPr>
              <a:t>Linux </a:t>
            </a:r>
            <a:endParaRPr lang="en-US" sz="8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0A7FE3F4-0F5C-565C-C8C7-0ACB8BE56A1B}"/>
              </a:ext>
            </a:extLst>
          </p:cNvPr>
          <p:cNvSpPr/>
          <p:nvPr/>
        </p:nvSpPr>
        <p:spPr>
          <a:xfrm>
            <a:off x="2351313" y="2861042"/>
            <a:ext cx="449943" cy="928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C7E1F962-26D7-D7C0-8E11-7C4DFBA2BC59}"/>
              </a:ext>
            </a:extLst>
          </p:cNvPr>
          <p:cNvSpPr txBox="1"/>
          <p:nvPr/>
        </p:nvSpPr>
        <p:spPr>
          <a:xfrm>
            <a:off x="-2" y="2602224"/>
            <a:ext cx="17199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~</a:t>
            </a:r>
            <a:r>
              <a:rPr lang="en-US" sz="88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$</a:t>
            </a:r>
            <a:endParaRPr lang="en-US" sz="8800" dirty="0">
              <a:solidFill>
                <a:schemeClr val="accent4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 descr="Penguin Shrugging">
                <a:extLst>
                  <a:ext uri="{FF2B5EF4-FFF2-40B4-BE49-F238E27FC236}">
                    <a16:creationId xmlns:a16="http://schemas.microsoft.com/office/drawing/2014/main" id="{1CD302A2-C1FE-B89A-AB22-F8151490497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34309021"/>
                  </p:ext>
                </p:extLst>
              </p:nvPr>
            </p:nvGraphicFramePr>
            <p:xfrm>
              <a:off x="12866914" y="1396163"/>
              <a:ext cx="2694580" cy="406567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694580" cy="4065673"/>
                    </a:xfrm>
                    <a:prstGeom prst="rect">
                      <a:avLst/>
                    </a:prstGeom>
                  </am3d:spPr>
                  <am3d:camera>
                    <am3d:pos x="0" y="0" z="6570257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8172336" d="1000000"/>
                    <am3d:preTrans dx="424835" dy="-17987890" dz="3249123"/>
                    <am3d:scale>
                      <am3d:sx n="1000000" d="1000000"/>
                      <am3d:sy n="1000000" d="1000000"/>
                      <am3d:sz n="1000000" d="1000000"/>
                    </am3d:scale>
                    <am3d:rot ax="833684" ay="-1990286" az="-462492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32250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 descr="Penguin Shrugging">
                <a:extLst>
                  <a:ext uri="{FF2B5EF4-FFF2-40B4-BE49-F238E27FC236}">
                    <a16:creationId xmlns:a16="http://schemas.microsoft.com/office/drawing/2014/main" id="{1CD302A2-C1FE-B89A-AB22-F8151490497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66914" y="1396163"/>
                <a:ext cx="2694580" cy="4065673"/>
              </a:xfrm>
              <a:prstGeom prst="rect">
                <a:avLst/>
              </a:prstGeom>
            </p:spPr>
          </p:pic>
        </mc:Fallback>
      </mc:AlternateContent>
      <p:pic>
        <p:nvPicPr>
          <p:cNvPr id="4098" name="Picture 2" descr="Linux Logo, symbol, meaning, history, PNG, brand">
            <a:extLst>
              <a:ext uri="{FF2B5EF4-FFF2-40B4-BE49-F238E27FC236}">
                <a16:creationId xmlns:a16="http://schemas.microsoft.com/office/drawing/2014/main" id="{B0ED8BB2-7200-53A3-2658-9C7E13209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185" y="1596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Who Is Linus Torvalds">
            <a:extLst>
              <a:ext uri="{FF2B5EF4-FFF2-40B4-BE49-F238E27FC236}">
                <a16:creationId xmlns:a16="http://schemas.microsoft.com/office/drawing/2014/main" id="{F778874D-8CC4-7322-B9F8-AECE5EF208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63" r="25560"/>
          <a:stretch/>
        </p:blipFill>
        <p:spPr bwMode="auto">
          <a:xfrm>
            <a:off x="13394763" y="1193920"/>
            <a:ext cx="3559665" cy="4470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105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2.22222E-6 L 0.21172 -0.00069 " pathEditMode="relative" rAng="0" ptsTypes="AA">
                                      <p:cBhvr>
                                        <p:cTn id="8" dur="8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86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50"/>
                            </p:stCondLst>
                            <p:childTnLst>
                              <p:par>
                                <p:cTn id="10" presetID="35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8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  <p:bldP spid="8" grpId="1" animBg="1"/>
      <p:bldP spid="8" grpId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66000">
              <a:srgbClr val="2F5597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8EF23AA7-3C21-9F57-382A-AE3D6A7BC601}"/>
              </a:ext>
            </a:extLst>
          </p:cNvPr>
          <p:cNvSpPr/>
          <p:nvPr/>
        </p:nvSpPr>
        <p:spPr>
          <a:xfrm>
            <a:off x="-3077030" y="-2173514"/>
            <a:ext cx="10595429" cy="11205028"/>
          </a:xfrm>
          <a:prstGeom prst="rect">
            <a:avLst/>
          </a:prstGeom>
          <a:effectLst>
            <a:glow>
              <a:schemeClr val="tx2">
                <a:lumMod val="60000"/>
                <a:lumOff val="40000"/>
                <a:alpha val="31000"/>
              </a:schemeClr>
            </a:glow>
            <a:outerShdw blurRad="1270000" dist="38100" sx="106000" sy="106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41F0A5A5-3A1B-B3BE-1B18-AA292173A473}"/>
              </a:ext>
            </a:extLst>
          </p:cNvPr>
          <p:cNvSpPr txBox="1"/>
          <p:nvPr/>
        </p:nvSpPr>
        <p:spPr>
          <a:xfrm>
            <a:off x="-2327730" y="0"/>
            <a:ext cx="8606972" cy="923330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5400" dirty="0">
                <a:solidFill>
                  <a:schemeClr val="bg1"/>
                </a:solidFill>
                <a:latin typeface="Consolas" panose="020B0609020204030204" pitchFamily="49" charset="0"/>
              </a:rPr>
              <a:t>Linux </a:t>
            </a:r>
            <a:endParaRPr lang="en-US" sz="5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EE6F65F9-BA4F-366F-1B6B-FC1F20543C4C}"/>
              </a:ext>
            </a:extLst>
          </p:cNvPr>
          <p:cNvSpPr txBox="1"/>
          <p:nvPr/>
        </p:nvSpPr>
        <p:spPr>
          <a:xfrm>
            <a:off x="0" y="1410172"/>
            <a:ext cx="7518401" cy="646331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r>
              <a:rPr lang="cs-CZ" sz="3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-&gt;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Began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in 1991</a:t>
            </a:r>
            <a:endParaRPr lang="en-US" sz="3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TextovéPole 26">
            <a:extLst>
              <a:ext uri="{FF2B5EF4-FFF2-40B4-BE49-F238E27FC236}">
                <a16:creationId xmlns:a16="http://schemas.microsoft.com/office/drawing/2014/main" id="{8125D1DE-2138-4300-BF38-746A97EC893B}"/>
              </a:ext>
            </a:extLst>
          </p:cNvPr>
          <p:cNvSpPr txBox="1"/>
          <p:nvPr/>
        </p:nvSpPr>
        <p:spPr>
          <a:xfrm>
            <a:off x="0" y="0"/>
            <a:ext cx="1088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~</a:t>
            </a:r>
            <a:r>
              <a:rPr lang="en-US" sz="54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$</a:t>
            </a:r>
            <a:endParaRPr lang="en-US" sz="5400" dirty="0">
              <a:solidFill>
                <a:schemeClr val="accent4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9" name="TextovéPole 28">
            <a:extLst>
              <a:ext uri="{FF2B5EF4-FFF2-40B4-BE49-F238E27FC236}">
                <a16:creationId xmlns:a16="http://schemas.microsoft.com/office/drawing/2014/main" id="{C737CD86-C8C6-08D2-B340-ED2852E3139C}"/>
              </a:ext>
            </a:extLst>
          </p:cNvPr>
          <p:cNvSpPr txBox="1"/>
          <p:nvPr/>
        </p:nvSpPr>
        <p:spPr>
          <a:xfrm>
            <a:off x="-3" y="2368083"/>
            <a:ext cx="7518401" cy="646331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r>
              <a:rPr lang="cs-CZ" sz="3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-&gt;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Powerful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command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-line</a:t>
            </a:r>
            <a:endParaRPr lang="en-US" sz="3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TextovéPole 29">
            <a:extLst>
              <a:ext uri="{FF2B5EF4-FFF2-40B4-BE49-F238E27FC236}">
                <a16:creationId xmlns:a16="http://schemas.microsoft.com/office/drawing/2014/main" id="{121518F4-C688-4E2B-74B9-2986A9D19349}"/>
              </a:ext>
            </a:extLst>
          </p:cNvPr>
          <p:cNvSpPr txBox="1"/>
          <p:nvPr/>
        </p:nvSpPr>
        <p:spPr>
          <a:xfrm>
            <a:off x="-6" y="4283904"/>
            <a:ext cx="7518401" cy="646331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r>
              <a:rPr lang="cs-CZ" sz="3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-&gt;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GPL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license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endParaRPr lang="en-US" sz="3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TextovéPole 30">
            <a:extLst>
              <a:ext uri="{FF2B5EF4-FFF2-40B4-BE49-F238E27FC236}">
                <a16:creationId xmlns:a16="http://schemas.microsoft.com/office/drawing/2014/main" id="{DEDF42C8-A82F-F8B1-504D-FB5A3AD1A991}"/>
              </a:ext>
            </a:extLst>
          </p:cNvPr>
          <p:cNvSpPr txBox="1"/>
          <p:nvPr/>
        </p:nvSpPr>
        <p:spPr>
          <a:xfrm>
            <a:off x="-7" y="3323647"/>
            <a:ext cx="7518401" cy="646331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r>
              <a:rPr lang="cs-CZ" sz="3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-&gt;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Variety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distributions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endParaRPr lang="en-US" sz="3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Obdélník 35">
            <a:extLst>
              <a:ext uri="{FF2B5EF4-FFF2-40B4-BE49-F238E27FC236}">
                <a16:creationId xmlns:a16="http://schemas.microsoft.com/office/drawing/2014/main" id="{11E6068E-F2B7-D81D-0CFD-E09F3EC51A5E}"/>
              </a:ext>
            </a:extLst>
          </p:cNvPr>
          <p:cNvSpPr/>
          <p:nvPr/>
        </p:nvSpPr>
        <p:spPr>
          <a:xfrm>
            <a:off x="3138713" y="247506"/>
            <a:ext cx="277587" cy="4769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 descr="Penguin Shrugging">
                <a:extLst>
                  <a:ext uri="{FF2B5EF4-FFF2-40B4-BE49-F238E27FC236}">
                    <a16:creationId xmlns:a16="http://schemas.microsoft.com/office/drawing/2014/main" id="{D32ADE65-10AD-2AEB-51DD-9CEF037A613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71781776"/>
                  </p:ext>
                </p:extLst>
              </p:nvPr>
            </p:nvGraphicFramePr>
            <p:xfrm>
              <a:off x="8626575" y="1396165"/>
              <a:ext cx="2732663" cy="406567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732663" cy="4065670"/>
                    </a:xfrm>
                    <a:prstGeom prst="rect">
                      <a:avLst/>
                    </a:prstGeom>
                    <a:noFill/>
                    <a:effectLst>
                      <a:glow>
                        <a:schemeClr val="bg1"/>
                      </a:glow>
                      <a:outerShdw blurRad="50800" dist="50800" dir="5400000" sx="1000" sy="1000" algn="ctr" rotWithShape="0">
                        <a:srgbClr val="000000">
                          <a:alpha val="43137"/>
                        </a:srgbClr>
                      </a:outerShdw>
                      <a:reflection endPos="0" dist="50800" dir="5400000" sy="-100000" algn="bl" rotWithShape="0"/>
                    </a:effectLst>
                  </am3d:spPr>
                  <am3d:camera>
                    <am3d:pos x="0" y="0" z="6570257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8172336" d="1000000"/>
                    <am3d:preTrans dx="424835" dy="-17987890" dz="3249123"/>
                    <am3d:scale>
                      <am3d:sx n="1000000" d="1000000"/>
                      <am3d:sy n="1000000" d="1000000"/>
                      <am3d:sz n="1000000" d="1000000"/>
                    </am3d:scale>
                    <am3d:rot ax="58482" ay="-2113343" az="-3375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32250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Penguin Shrugging">
                <a:extLst>
                  <a:ext uri="{FF2B5EF4-FFF2-40B4-BE49-F238E27FC236}">
                    <a16:creationId xmlns:a16="http://schemas.microsoft.com/office/drawing/2014/main" id="{D32ADE65-10AD-2AEB-51DD-9CEF037A613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26575" y="1396165"/>
                <a:ext cx="2732663" cy="4065670"/>
              </a:xfrm>
              <a:prstGeom prst="rect">
                <a:avLst/>
              </a:prstGeom>
              <a:noFill/>
              <a:effectLst>
                <a:glow>
                  <a:schemeClr val="bg1"/>
                </a:glow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reflection endPos="0" dist="50800" dir="5400000" sy="-100000" algn="bl" rotWithShape="0"/>
              </a:effectLst>
            </p:spPr>
          </p:pic>
        </mc:Fallback>
      </mc:AlternateContent>
      <p:pic>
        <p:nvPicPr>
          <p:cNvPr id="12" name="Picture 2" descr="Linux Logo, symbol, meaning, history, PNG, brand">
            <a:extLst>
              <a:ext uri="{FF2B5EF4-FFF2-40B4-BE49-F238E27FC236}">
                <a16:creationId xmlns:a16="http://schemas.microsoft.com/office/drawing/2014/main" id="{B04AD4CB-2647-B946-C29C-C8B2AF46E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9085" y="217812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826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8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50"/>
                            </p:stCondLst>
                            <p:childTnLst>
                              <p:par>
                                <p:cTn id="10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1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1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5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850"/>
                            </p:stCondLst>
                            <p:childTnLst>
                              <p:par>
                                <p:cTn id="17" presetID="37" presetClass="emph" presetSubtype="128" repeatCount="indefinite" accel="10000" decel="1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9" grpId="0"/>
      <p:bldP spid="30" grpId="0"/>
      <p:bldP spid="31" grpId="0"/>
      <p:bldP spid="36" grpId="0" animBg="1"/>
      <p:bldP spid="36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8EF23AA7-3C21-9F57-382A-AE3D6A7BC601}"/>
              </a:ext>
            </a:extLst>
          </p:cNvPr>
          <p:cNvSpPr/>
          <p:nvPr/>
        </p:nvSpPr>
        <p:spPr>
          <a:xfrm>
            <a:off x="0" y="2224314"/>
            <a:ext cx="12191999" cy="2409372"/>
          </a:xfrm>
          <a:prstGeom prst="rect">
            <a:avLst/>
          </a:prstGeom>
          <a:effectLst>
            <a:glow>
              <a:schemeClr val="tx2">
                <a:lumMod val="60000"/>
                <a:lumOff val="40000"/>
                <a:alpha val="31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41F0A5A5-3A1B-B3BE-1B18-AA292173A473}"/>
              </a:ext>
            </a:extLst>
          </p:cNvPr>
          <p:cNvSpPr txBox="1"/>
          <p:nvPr/>
        </p:nvSpPr>
        <p:spPr>
          <a:xfrm>
            <a:off x="-469972" y="2602224"/>
            <a:ext cx="12192000" cy="1446550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8800" dirty="0" err="1">
                <a:solidFill>
                  <a:schemeClr val="bg1"/>
                </a:solidFill>
                <a:latin typeface="Consolas" panose="020B0609020204030204" pitchFamily="49" charset="0"/>
              </a:rPr>
              <a:t>Personal</a:t>
            </a:r>
            <a:r>
              <a:rPr lang="cs-CZ" sz="8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8800" dirty="0" err="1">
                <a:solidFill>
                  <a:schemeClr val="bg1"/>
                </a:solidFill>
                <a:latin typeface="Consolas" panose="020B0609020204030204" pitchFamily="49" charset="0"/>
              </a:rPr>
              <a:t>life</a:t>
            </a:r>
            <a:r>
              <a:rPr lang="cs-CZ" sz="8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endParaRPr lang="en-US" sz="8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0A7FE3F4-0F5C-565C-C8C7-0ACB8BE56A1B}"/>
              </a:ext>
            </a:extLst>
          </p:cNvPr>
          <p:cNvSpPr/>
          <p:nvPr/>
        </p:nvSpPr>
        <p:spPr>
          <a:xfrm>
            <a:off x="2351313" y="2861042"/>
            <a:ext cx="449943" cy="928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C7E1F962-26D7-D7C0-8E11-7C4DFBA2BC59}"/>
              </a:ext>
            </a:extLst>
          </p:cNvPr>
          <p:cNvSpPr txBox="1"/>
          <p:nvPr/>
        </p:nvSpPr>
        <p:spPr>
          <a:xfrm>
            <a:off x="-2" y="2602224"/>
            <a:ext cx="17199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~</a:t>
            </a:r>
            <a:r>
              <a:rPr lang="en-US" sz="88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$</a:t>
            </a:r>
            <a:endParaRPr lang="en-US" sz="8800" dirty="0">
              <a:solidFill>
                <a:schemeClr val="accent4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3" name="Picture 8" descr="Linus Torvalds runs one of the most world's important software projects  from a tiny 'Zombie shuffling' desk | Business Insider India">
            <a:extLst>
              <a:ext uri="{FF2B5EF4-FFF2-40B4-BE49-F238E27FC236}">
                <a16:creationId xmlns:a16="http://schemas.microsoft.com/office/drawing/2014/main" id="{E228A379-6D2C-F953-C897-ADC9ACA44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5998" y="1741301"/>
            <a:ext cx="4505325" cy="3375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Penguin Shrugging">
                <a:extLst>
                  <a:ext uri="{FF2B5EF4-FFF2-40B4-BE49-F238E27FC236}">
                    <a16:creationId xmlns:a16="http://schemas.microsoft.com/office/drawing/2014/main" id="{5C01C33C-B547-A1D8-4E05-643396F5304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4175151"/>
                  </p:ext>
                </p:extLst>
              </p:nvPr>
            </p:nvGraphicFramePr>
            <p:xfrm>
              <a:off x="13919721" y="1396163"/>
              <a:ext cx="2732663" cy="406567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732663" cy="4065670"/>
                    </a:xfrm>
                    <a:prstGeom prst="rect">
                      <a:avLst/>
                    </a:prstGeom>
                    <a:noFill/>
                    <a:effectLst>
                      <a:glow>
                        <a:schemeClr val="bg1"/>
                      </a:glow>
                      <a:outerShdw blurRad="50800" dist="50800" dir="5400000" sx="1000" sy="1000" algn="ctr" rotWithShape="0">
                        <a:srgbClr val="000000">
                          <a:alpha val="43137"/>
                        </a:srgbClr>
                      </a:outerShdw>
                      <a:reflection endPos="0" dist="50800" dir="5400000" sy="-100000" algn="bl" rotWithShape="0"/>
                    </a:effectLst>
                  </am3d:spPr>
                  <am3d:camera>
                    <am3d:pos x="0" y="0" z="6570257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8172336" d="1000000"/>
                    <am3d:preTrans dx="424835" dy="-17987890" dz="3249123"/>
                    <am3d:scale>
                      <am3d:sx n="1000000" d="1000000"/>
                      <am3d:sy n="1000000" d="1000000"/>
                      <am3d:sz n="1000000" d="1000000"/>
                    </am3d:scale>
                    <am3d:rot ax="58482" ay="-2113343" az="-3375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32250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Penguin Shrugging">
                <a:extLst>
                  <a:ext uri="{FF2B5EF4-FFF2-40B4-BE49-F238E27FC236}">
                    <a16:creationId xmlns:a16="http://schemas.microsoft.com/office/drawing/2014/main" id="{5C01C33C-B547-A1D8-4E05-643396F5304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919721" y="1396163"/>
                <a:ext cx="2732663" cy="4065670"/>
              </a:xfrm>
              <a:prstGeom prst="rect">
                <a:avLst/>
              </a:prstGeom>
              <a:noFill/>
              <a:effectLst>
                <a:glow>
                  <a:schemeClr val="bg1"/>
                </a:glow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reflection endPos="0" dist="50800" dir="5400000" sy="-100000" algn="bl" rotWithShape="0"/>
              </a:effectLst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6503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2.22222E-6 L 0.61367 -2.22222E-6 " pathEditMode="relative" rAng="0" ptsTypes="AA">
                                      <p:cBhvr>
                                        <p:cTn id="8" dur="1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6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750"/>
                            </p:stCondLst>
                            <p:childTnLst>
                              <p:par>
                                <p:cTn id="10" presetID="35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8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1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37" presetClass="emph" presetSubtype="128" repeatCount="indefinite" accel="10000" decel="1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5" dur="2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  <p:bldP spid="8" grpId="1" animBg="1"/>
      <p:bldP spid="8" grpId="2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66000">
              <a:srgbClr val="2F5597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8EF23AA7-3C21-9F57-382A-AE3D6A7BC601}"/>
              </a:ext>
            </a:extLst>
          </p:cNvPr>
          <p:cNvSpPr/>
          <p:nvPr/>
        </p:nvSpPr>
        <p:spPr>
          <a:xfrm>
            <a:off x="-3077030" y="-2173514"/>
            <a:ext cx="10595429" cy="11205028"/>
          </a:xfrm>
          <a:prstGeom prst="rect">
            <a:avLst/>
          </a:prstGeom>
          <a:effectLst>
            <a:glow>
              <a:schemeClr val="tx2">
                <a:lumMod val="60000"/>
                <a:lumOff val="40000"/>
                <a:alpha val="31000"/>
              </a:schemeClr>
            </a:glow>
            <a:outerShdw blurRad="1270000" dist="38100" sx="106000" sy="106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41F0A5A5-3A1B-B3BE-1B18-AA292173A473}"/>
              </a:ext>
            </a:extLst>
          </p:cNvPr>
          <p:cNvSpPr txBox="1"/>
          <p:nvPr/>
        </p:nvSpPr>
        <p:spPr>
          <a:xfrm>
            <a:off x="-760187" y="0"/>
            <a:ext cx="8606972" cy="923330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5400" dirty="0" err="1">
                <a:solidFill>
                  <a:schemeClr val="bg1"/>
                </a:solidFill>
                <a:latin typeface="Consolas" panose="020B0609020204030204" pitchFamily="49" charset="0"/>
              </a:rPr>
              <a:t>Personal</a:t>
            </a:r>
            <a:r>
              <a:rPr lang="cs-CZ" sz="5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5400" dirty="0" err="1">
                <a:solidFill>
                  <a:schemeClr val="bg1"/>
                </a:solidFill>
                <a:latin typeface="Consolas" panose="020B0609020204030204" pitchFamily="49" charset="0"/>
              </a:rPr>
              <a:t>life</a:t>
            </a:r>
            <a:r>
              <a:rPr lang="cs-CZ" sz="5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endParaRPr lang="en-US" sz="5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EE6F65F9-BA4F-366F-1B6B-FC1F20543C4C}"/>
              </a:ext>
            </a:extLst>
          </p:cNvPr>
          <p:cNvSpPr txBox="1"/>
          <p:nvPr/>
        </p:nvSpPr>
        <p:spPr>
          <a:xfrm>
            <a:off x="0" y="1410172"/>
            <a:ext cx="7518401" cy="646331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r>
              <a:rPr lang="cs-CZ" sz="3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-&gt;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Strange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habits</a:t>
            </a:r>
            <a:endParaRPr lang="en-US" sz="3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TextovéPole 26">
            <a:extLst>
              <a:ext uri="{FF2B5EF4-FFF2-40B4-BE49-F238E27FC236}">
                <a16:creationId xmlns:a16="http://schemas.microsoft.com/office/drawing/2014/main" id="{8125D1DE-2138-4300-BF38-746A97EC893B}"/>
              </a:ext>
            </a:extLst>
          </p:cNvPr>
          <p:cNvSpPr txBox="1"/>
          <p:nvPr/>
        </p:nvSpPr>
        <p:spPr>
          <a:xfrm>
            <a:off x="0" y="0"/>
            <a:ext cx="1088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~</a:t>
            </a:r>
            <a:r>
              <a:rPr lang="en-US" sz="54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$</a:t>
            </a:r>
            <a:endParaRPr lang="en-US" sz="5400" dirty="0">
              <a:solidFill>
                <a:schemeClr val="accent4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9" name="TextovéPole 28">
            <a:extLst>
              <a:ext uri="{FF2B5EF4-FFF2-40B4-BE49-F238E27FC236}">
                <a16:creationId xmlns:a16="http://schemas.microsoft.com/office/drawing/2014/main" id="{C737CD86-C8C6-08D2-B340-ED2852E3139C}"/>
              </a:ext>
            </a:extLst>
          </p:cNvPr>
          <p:cNvSpPr txBox="1"/>
          <p:nvPr/>
        </p:nvSpPr>
        <p:spPr>
          <a:xfrm>
            <a:off x="-3" y="2368083"/>
            <a:ext cx="7518401" cy="646331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r>
              <a:rPr lang="cs-CZ" sz="3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-&gt;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Married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with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3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childs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endParaRPr lang="en-US" sz="3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TextovéPole 29">
            <a:extLst>
              <a:ext uri="{FF2B5EF4-FFF2-40B4-BE49-F238E27FC236}">
                <a16:creationId xmlns:a16="http://schemas.microsoft.com/office/drawing/2014/main" id="{121518F4-C688-4E2B-74B9-2986A9D19349}"/>
              </a:ext>
            </a:extLst>
          </p:cNvPr>
          <p:cNvSpPr txBox="1"/>
          <p:nvPr/>
        </p:nvSpPr>
        <p:spPr>
          <a:xfrm>
            <a:off x="-4" y="3325994"/>
            <a:ext cx="7518401" cy="646331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r>
              <a:rPr lang="cs-CZ" sz="3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-&gt;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Invested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in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Red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Hat</a:t>
            </a:r>
            <a:endParaRPr lang="en-US" sz="3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TextovéPole 30">
            <a:extLst>
              <a:ext uri="{FF2B5EF4-FFF2-40B4-BE49-F238E27FC236}">
                <a16:creationId xmlns:a16="http://schemas.microsoft.com/office/drawing/2014/main" id="{DEDF42C8-A82F-F8B1-504D-FB5A3AD1A991}"/>
              </a:ext>
            </a:extLst>
          </p:cNvPr>
          <p:cNvSpPr txBox="1"/>
          <p:nvPr/>
        </p:nvSpPr>
        <p:spPr>
          <a:xfrm>
            <a:off x="0" y="4283905"/>
            <a:ext cx="7518401" cy="646331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r>
              <a:rPr lang="cs-CZ" sz="3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-&gt;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Shy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cs-CZ" sz="3600" dirty="0">
                <a:solidFill>
                  <a:schemeClr val="bg1"/>
                </a:solidFill>
                <a:latin typeface="Consolas" panose="020B0609020204030204" pitchFamily="49" charset="0"/>
              </a:rPr>
              <a:t> public </a:t>
            </a:r>
            <a:r>
              <a:rPr lang="cs-CZ" sz="3600" dirty="0" err="1">
                <a:solidFill>
                  <a:schemeClr val="bg1"/>
                </a:solidFill>
                <a:latin typeface="Consolas" panose="020B0609020204030204" pitchFamily="49" charset="0"/>
              </a:rPr>
              <a:t>speaking</a:t>
            </a:r>
            <a:endParaRPr lang="en-US" sz="3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Obdélník 35">
            <a:extLst>
              <a:ext uri="{FF2B5EF4-FFF2-40B4-BE49-F238E27FC236}">
                <a16:creationId xmlns:a16="http://schemas.microsoft.com/office/drawing/2014/main" id="{11E6068E-F2B7-D81D-0CFD-E09F3EC51A5E}"/>
              </a:ext>
            </a:extLst>
          </p:cNvPr>
          <p:cNvSpPr/>
          <p:nvPr/>
        </p:nvSpPr>
        <p:spPr>
          <a:xfrm>
            <a:off x="6270171" y="247506"/>
            <a:ext cx="277587" cy="4769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80" name="Picture 8" descr="Linus Torvalds runs one of the most world's important software projects  from a tiny 'Zombie shuffling' desk | Business Insider India">
            <a:extLst>
              <a:ext uri="{FF2B5EF4-FFF2-40B4-BE49-F238E27FC236}">
                <a16:creationId xmlns:a16="http://schemas.microsoft.com/office/drawing/2014/main" id="{D46719D8-FB90-1799-1B1A-29514F49E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961461"/>
            <a:ext cx="4505325" cy="3375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9487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8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9" grpId="0"/>
      <p:bldP spid="30" grpId="0"/>
      <p:bldP spid="31" grpId="0"/>
      <p:bldP spid="36" grpId="0" animBg="1"/>
      <p:bldP spid="36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8EF23AA7-3C21-9F57-382A-AE3D6A7BC601}"/>
              </a:ext>
            </a:extLst>
          </p:cNvPr>
          <p:cNvSpPr/>
          <p:nvPr/>
        </p:nvSpPr>
        <p:spPr>
          <a:xfrm>
            <a:off x="0" y="2224314"/>
            <a:ext cx="12191999" cy="2409372"/>
          </a:xfrm>
          <a:prstGeom prst="rect">
            <a:avLst/>
          </a:prstGeom>
          <a:effectLst>
            <a:glow>
              <a:schemeClr val="tx2">
                <a:lumMod val="60000"/>
                <a:lumOff val="40000"/>
                <a:alpha val="31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41F0A5A5-3A1B-B3BE-1B18-AA292173A473}"/>
              </a:ext>
            </a:extLst>
          </p:cNvPr>
          <p:cNvSpPr txBox="1"/>
          <p:nvPr/>
        </p:nvSpPr>
        <p:spPr>
          <a:xfrm>
            <a:off x="-2545515" y="2602224"/>
            <a:ext cx="12192000" cy="1446550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8800" dirty="0" err="1">
                <a:solidFill>
                  <a:schemeClr val="bg1"/>
                </a:solidFill>
                <a:latin typeface="Consolas" panose="020B0609020204030204" pitchFamily="49" charset="0"/>
              </a:rPr>
              <a:t>Quotes</a:t>
            </a:r>
            <a:r>
              <a:rPr lang="cs-CZ" sz="8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endParaRPr lang="en-US" sz="8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0A7FE3F4-0F5C-565C-C8C7-0ACB8BE56A1B}"/>
              </a:ext>
            </a:extLst>
          </p:cNvPr>
          <p:cNvSpPr/>
          <p:nvPr/>
        </p:nvSpPr>
        <p:spPr>
          <a:xfrm>
            <a:off x="2351313" y="2861042"/>
            <a:ext cx="449943" cy="928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C7E1F962-26D7-D7C0-8E11-7C4DFBA2BC59}"/>
              </a:ext>
            </a:extLst>
          </p:cNvPr>
          <p:cNvSpPr txBox="1"/>
          <p:nvPr/>
        </p:nvSpPr>
        <p:spPr>
          <a:xfrm>
            <a:off x="-2" y="2602224"/>
            <a:ext cx="17199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~</a:t>
            </a:r>
            <a:r>
              <a:rPr lang="en-US" sz="88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$</a:t>
            </a:r>
            <a:endParaRPr lang="en-US" sz="8800" dirty="0">
              <a:solidFill>
                <a:schemeClr val="accent4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2" name="Picture 8" descr="Linus Torvalds runs one of the most world's important software projects  from a tiny 'Zombie shuffling' desk | Business Insider India">
            <a:extLst>
              <a:ext uri="{FF2B5EF4-FFF2-40B4-BE49-F238E27FC236}">
                <a16:creationId xmlns:a16="http://schemas.microsoft.com/office/drawing/2014/main" id="{5D7C9798-1B33-C506-685A-7995B4DFA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0" y="1961461"/>
            <a:ext cx="4505325" cy="3375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0421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2.22222E-6 L 0.26719 -2.22222E-6 " pathEditMode="relative" rAng="0" ptsTypes="AA">
                                      <p:cBhvr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1"/>
                            </p:stCondLst>
                            <p:childTnLst>
                              <p:par>
                                <p:cTn id="10" presetID="35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8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  <p:bldP spid="8" grpId="1" animBg="1"/>
      <p:bldP spid="8" grpId="2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100000">
              <a:schemeClr val="accent1">
                <a:lumMod val="7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8EF23AA7-3C21-9F57-382A-AE3D6A7BC601}"/>
              </a:ext>
            </a:extLst>
          </p:cNvPr>
          <p:cNvSpPr/>
          <p:nvPr/>
        </p:nvSpPr>
        <p:spPr>
          <a:xfrm>
            <a:off x="0" y="1090299"/>
            <a:ext cx="12191999" cy="4470400"/>
          </a:xfrm>
          <a:prstGeom prst="rect">
            <a:avLst/>
          </a:prstGeom>
          <a:effectLst>
            <a:glow>
              <a:schemeClr val="tx2">
                <a:lumMod val="60000"/>
                <a:lumOff val="40000"/>
                <a:alpha val="31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41F0A5A5-3A1B-B3BE-1B18-AA292173A473}"/>
              </a:ext>
            </a:extLst>
          </p:cNvPr>
          <p:cNvSpPr txBox="1"/>
          <p:nvPr/>
        </p:nvSpPr>
        <p:spPr>
          <a:xfrm>
            <a:off x="377370" y="1617339"/>
            <a:ext cx="12192000" cy="3416320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r>
              <a:rPr lang="cs-CZ" sz="7200" dirty="0">
                <a:solidFill>
                  <a:schemeClr val="bg1"/>
                </a:solidFill>
                <a:latin typeface="Consolas" panose="020B0609020204030204" pitchFamily="49" charset="0"/>
              </a:rPr>
              <a:t>„Software </a:t>
            </a:r>
            <a:r>
              <a:rPr lang="cs-CZ" sz="7200" dirty="0" err="1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cs-CZ" sz="7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7200" dirty="0" err="1">
                <a:solidFill>
                  <a:schemeClr val="bg1"/>
                </a:solidFill>
                <a:latin typeface="Consolas" panose="020B0609020204030204" pitchFamily="49" charset="0"/>
              </a:rPr>
              <a:t>like</a:t>
            </a:r>
            <a:r>
              <a:rPr lang="cs-CZ" sz="7200" dirty="0">
                <a:solidFill>
                  <a:schemeClr val="bg1"/>
                </a:solidFill>
                <a:latin typeface="Consolas" panose="020B0609020204030204" pitchFamily="49" charset="0"/>
              </a:rPr>
              <a:t> sex: </a:t>
            </a:r>
            <a:r>
              <a:rPr lang="cs-CZ" sz="7200" dirty="0" err="1">
                <a:solidFill>
                  <a:schemeClr val="bg1"/>
                </a:solidFill>
                <a:latin typeface="Consolas" panose="020B0609020204030204" pitchFamily="49" charset="0"/>
              </a:rPr>
              <a:t>it‘s</a:t>
            </a:r>
            <a:r>
              <a:rPr lang="cs-CZ" sz="7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7200" dirty="0" err="1">
                <a:solidFill>
                  <a:schemeClr val="bg1"/>
                </a:solidFill>
                <a:latin typeface="Consolas" panose="020B0609020204030204" pitchFamily="49" charset="0"/>
              </a:rPr>
              <a:t>better</a:t>
            </a:r>
            <a:r>
              <a:rPr lang="cs-CZ" sz="7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7200" dirty="0" err="1">
                <a:solidFill>
                  <a:schemeClr val="bg1"/>
                </a:solidFill>
                <a:latin typeface="Consolas" panose="020B0609020204030204" pitchFamily="49" charset="0"/>
              </a:rPr>
              <a:t>when</a:t>
            </a:r>
            <a:r>
              <a:rPr lang="cs-CZ" sz="7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7200" dirty="0" err="1">
                <a:solidFill>
                  <a:schemeClr val="bg1"/>
                </a:solidFill>
                <a:latin typeface="Consolas" panose="020B0609020204030204" pitchFamily="49" charset="0"/>
              </a:rPr>
              <a:t>it‘s</a:t>
            </a:r>
            <a:r>
              <a:rPr lang="cs-CZ" sz="7200" dirty="0">
                <a:solidFill>
                  <a:schemeClr val="bg1"/>
                </a:solidFill>
                <a:latin typeface="Consolas" panose="020B0609020204030204" pitchFamily="49" charset="0"/>
              </a:rPr>
              <a:t> free.“</a:t>
            </a:r>
            <a:endParaRPr lang="en-US" sz="7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Obdélník 1">
            <a:extLst>
              <a:ext uri="{FF2B5EF4-FFF2-40B4-BE49-F238E27FC236}">
                <a16:creationId xmlns:a16="http://schemas.microsoft.com/office/drawing/2014/main" id="{3B2A56B2-AE41-E8EB-CB45-509E4ACFF19D}"/>
              </a:ext>
            </a:extLst>
          </p:cNvPr>
          <p:cNvSpPr/>
          <p:nvPr/>
        </p:nvSpPr>
        <p:spPr>
          <a:xfrm>
            <a:off x="-3381828" y="2964543"/>
            <a:ext cx="449943" cy="928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597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100000">
              <a:schemeClr val="accent1">
                <a:lumMod val="7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8EF23AA7-3C21-9F57-382A-AE3D6A7BC601}"/>
              </a:ext>
            </a:extLst>
          </p:cNvPr>
          <p:cNvSpPr/>
          <p:nvPr/>
        </p:nvSpPr>
        <p:spPr>
          <a:xfrm>
            <a:off x="0" y="1090299"/>
            <a:ext cx="12191999" cy="4470400"/>
          </a:xfrm>
          <a:prstGeom prst="rect">
            <a:avLst/>
          </a:prstGeom>
          <a:effectLst>
            <a:glow>
              <a:schemeClr val="tx2">
                <a:lumMod val="60000"/>
                <a:lumOff val="40000"/>
                <a:alpha val="31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41F0A5A5-3A1B-B3BE-1B18-AA292173A473}"/>
              </a:ext>
            </a:extLst>
          </p:cNvPr>
          <p:cNvSpPr txBox="1"/>
          <p:nvPr/>
        </p:nvSpPr>
        <p:spPr>
          <a:xfrm>
            <a:off x="624113" y="2171337"/>
            <a:ext cx="12192000" cy="2308324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r>
              <a:rPr lang="cs-CZ" sz="7200" dirty="0">
                <a:solidFill>
                  <a:schemeClr val="bg1"/>
                </a:solidFill>
                <a:latin typeface="Consolas" panose="020B0609020204030204" pitchFamily="49" charset="0"/>
              </a:rPr>
              <a:t>„My </a:t>
            </a:r>
            <a:r>
              <a:rPr lang="cs-CZ" sz="7200" dirty="0" err="1">
                <a:solidFill>
                  <a:schemeClr val="bg1"/>
                </a:solidFill>
                <a:latin typeface="Consolas" panose="020B0609020204030204" pitchFamily="49" charset="0"/>
              </a:rPr>
              <a:t>name</a:t>
            </a:r>
            <a:r>
              <a:rPr lang="cs-CZ" sz="7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7200" dirty="0" err="1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cs-CZ" sz="7200" dirty="0">
                <a:solidFill>
                  <a:schemeClr val="bg1"/>
                </a:solidFill>
                <a:latin typeface="Consolas" panose="020B0609020204030204" pitchFamily="49" charset="0"/>
              </a:rPr>
              <a:t> Linus, and </a:t>
            </a:r>
            <a:r>
              <a:rPr lang="cs-CZ" sz="7200" dirty="0" err="1">
                <a:solidFill>
                  <a:schemeClr val="bg1"/>
                </a:solidFill>
                <a:latin typeface="Consolas" panose="020B0609020204030204" pitchFamily="49" charset="0"/>
              </a:rPr>
              <a:t>I‘m</a:t>
            </a:r>
            <a:r>
              <a:rPr lang="cs-CZ" sz="7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7200" dirty="0" err="1">
                <a:solidFill>
                  <a:schemeClr val="bg1"/>
                </a:solidFill>
                <a:latin typeface="Consolas" panose="020B0609020204030204" pitchFamily="49" charset="0"/>
              </a:rPr>
              <a:t>your</a:t>
            </a:r>
            <a:r>
              <a:rPr lang="cs-CZ" sz="7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cs-CZ" sz="7200" dirty="0" err="1">
                <a:solidFill>
                  <a:schemeClr val="bg1"/>
                </a:solidFill>
                <a:latin typeface="Consolas" panose="020B0609020204030204" pitchFamily="49" charset="0"/>
              </a:rPr>
              <a:t>god</a:t>
            </a:r>
            <a:r>
              <a:rPr lang="cs-CZ" sz="7200" dirty="0">
                <a:solidFill>
                  <a:schemeClr val="bg1"/>
                </a:solidFill>
                <a:latin typeface="Consolas" panose="020B0609020204030204" pitchFamily="49" charset="0"/>
              </a:rPr>
              <a:t>“</a:t>
            </a:r>
            <a:endParaRPr lang="en-US" sz="7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767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8EF23AA7-3C21-9F57-382A-AE3D6A7BC601}"/>
              </a:ext>
            </a:extLst>
          </p:cNvPr>
          <p:cNvSpPr/>
          <p:nvPr/>
        </p:nvSpPr>
        <p:spPr>
          <a:xfrm>
            <a:off x="0" y="2224314"/>
            <a:ext cx="12191999" cy="2409372"/>
          </a:xfrm>
          <a:prstGeom prst="rect">
            <a:avLst/>
          </a:prstGeom>
          <a:effectLst>
            <a:glow>
              <a:schemeClr val="tx2">
                <a:lumMod val="60000"/>
                <a:lumOff val="40000"/>
                <a:alpha val="31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41F0A5A5-3A1B-B3BE-1B18-AA292173A473}"/>
              </a:ext>
            </a:extLst>
          </p:cNvPr>
          <p:cNvSpPr txBox="1"/>
          <p:nvPr/>
        </p:nvSpPr>
        <p:spPr>
          <a:xfrm>
            <a:off x="-2262414" y="2602224"/>
            <a:ext cx="12192000" cy="1446550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8800" dirty="0" err="1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cs-CZ" sz="8800" dirty="0">
                <a:solidFill>
                  <a:schemeClr val="bg1"/>
                </a:solidFill>
                <a:latin typeface="Consolas" panose="020B0609020204030204" pitchFamily="49" charset="0"/>
              </a:rPr>
              <a:t> end</a:t>
            </a:r>
            <a:endParaRPr lang="en-US" sz="8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0A7FE3F4-0F5C-565C-C8C7-0ACB8BE56A1B}"/>
              </a:ext>
            </a:extLst>
          </p:cNvPr>
          <p:cNvSpPr/>
          <p:nvPr/>
        </p:nvSpPr>
        <p:spPr>
          <a:xfrm>
            <a:off x="2351313" y="2861042"/>
            <a:ext cx="449943" cy="928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C7E1F962-26D7-D7C0-8E11-7C4DFBA2BC59}"/>
              </a:ext>
            </a:extLst>
          </p:cNvPr>
          <p:cNvSpPr txBox="1"/>
          <p:nvPr/>
        </p:nvSpPr>
        <p:spPr>
          <a:xfrm>
            <a:off x="-2" y="2602224"/>
            <a:ext cx="17199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~</a:t>
            </a:r>
            <a:r>
              <a:rPr lang="en-US" sz="88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$</a:t>
            </a:r>
            <a:endParaRPr lang="en-US" sz="8800" dirty="0">
              <a:solidFill>
                <a:schemeClr val="accent4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947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2.22222E-6 L 0.31575 0.00047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81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35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8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  <p:bldP spid="8" grpId="1" animBg="1"/>
      <p:bldP spid="8" grpId="2" animBg="1"/>
    </p:bld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50BD0F6FB4A148BA82D504C73BC961" ma:contentTypeVersion="7" ma:contentTypeDescription="Create a new document." ma:contentTypeScope="" ma:versionID="685fb4d84bf2827023425b3eae918bf8">
  <xsd:schema xmlns:xsd="http://www.w3.org/2001/XMLSchema" xmlns:xs="http://www.w3.org/2001/XMLSchema" xmlns:p="http://schemas.microsoft.com/office/2006/metadata/properties" xmlns:ns3="de386e3a-518b-4b75-aa54-e08f3aed4c26" xmlns:ns4="ac5eb009-1915-475c-987a-b056bf1152f9" targetNamespace="http://schemas.microsoft.com/office/2006/metadata/properties" ma:root="true" ma:fieldsID="de817b14ddf7c4a3b1cf1a5ca7533121" ns3:_="" ns4:_="">
    <xsd:import namespace="de386e3a-518b-4b75-aa54-e08f3aed4c26"/>
    <xsd:import namespace="ac5eb009-1915-475c-987a-b056bf1152f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386e3a-518b-4b75-aa54-e08f3aed4c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5eb009-1915-475c-987a-b056bf1152f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e386e3a-518b-4b75-aa54-e08f3aed4c26" xsi:nil="true"/>
  </documentManagement>
</p:properties>
</file>

<file path=customXml/itemProps1.xml><?xml version="1.0" encoding="utf-8"?>
<ds:datastoreItem xmlns:ds="http://schemas.openxmlformats.org/officeDocument/2006/customXml" ds:itemID="{FFDE7F20-B3C2-46EB-B6F4-4ACD9BA583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386e3a-518b-4b75-aa54-e08f3aed4c26"/>
    <ds:schemaRef ds:uri="ac5eb009-1915-475c-987a-b056bf1152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73C10F-A0C7-4808-9F6B-51C778CBF4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14D7F-EF14-4501-956E-D968DC49F79C}">
  <ds:schemaRefs>
    <ds:schemaRef ds:uri="http://purl.org/dc/terms/"/>
    <ds:schemaRef ds:uri="ac5eb009-1915-475c-987a-b056bf1152f9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de386e3a-518b-4b75-aa54-e08f3aed4c26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130</Words>
  <Application>Microsoft Office PowerPoint</Application>
  <PresentationFormat>Širokoúhlá obrazovka</PresentationFormat>
  <Paragraphs>40</Paragraphs>
  <Slides>13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9" baseType="lpstr">
      <vt:lpstr>Arial</vt:lpstr>
      <vt:lpstr>Arial</vt:lpstr>
      <vt:lpstr>Calibri</vt:lpstr>
      <vt:lpstr>Calibri Light</vt:lpstr>
      <vt:lpstr>Consolas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Lukáš Podhorný</dc:creator>
  <cp:lastModifiedBy>Lukáš Podhorný</cp:lastModifiedBy>
  <cp:revision>10</cp:revision>
  <dcterms:created xsi:type="dcterms:W3CDTF">2023-10-15T08:39:15Z</dcterms:created>
  <dcterms:modified xsi:type="dcterms:W3CDTF">2023-10-17T17:30:01Z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0x0101005450BD0F6FB4A148BA82D504C73BC961</vt:lpwstr>
  </property>
</Properties>
</file>